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B0DCEC-D470-48EB-BC50-0FDDA2B902DB}" v="1" dt="2026-09-18T16:01:32.0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va Mahesh" userId="55ce729dfb06cce1" providerId="LiveId" clId="{186AA61E-F4F5-4CF2-92A8-395D4062B082}"/>
    <pc:docChg chg="undo custSel modSld">
      <pc:chgData name="Yuva Mahesh" userId="55ce729dfb06cce1" providerId="LiveId" clId="{186AA61E-F4F5-4CF2-92A8-395D4062B082}" dt="2026-09-18T16:16:03.134" v="120" actId="1076"/>
      <pc:docMkLst>
        <pc:docMk/>
      </pc:docMkLst>
      <pc:sldChg chg="modSp mod">
        <pc:chgData name="Yuva Mahesh" userId="55ce729dfb06cce1" providerId="LiveId" clId="{186AA61E-F4F5-4CF2-92A8-395D4062B082}" dt="2026-09-18T16:16:03.134" v="120" actId="1076"/>
        <pc:sldMkLst>
          <pc:docMk/>
          <pc:sldMk cId="0" sldId="256"/>
        </pc:sldMkLst>
        <pc:spChg chg="mod">
          <ac:chgData name="Yuva Mahesh" userId="55ce729dfb06cce1" providerId="LiveId" clId="{186AA61E-F4F5-4CF2-92A8-395D4062B082}" dt="2026-09-18T16:15:38.846" v="119" actId="103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16:03.134" v="120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14:08.701" v="114" actId="1076"/>
          <ac:spMkLst>
            <pc:docMk/>
            <pc:sldMk cId="0" sldId="256"/>
            <ac:spMk id="14" creationId="{00000000-0000-0000-0000-000000000000}"/>
          </ac:spMkLst>
        </pc:spChg>
        <pc:picChg chg="mod">
          <ac:chgData name="Yuva Mahesh" userId="55ce729dfb06cce1" providerId="LiveId" clId="{186AA61E-F4F5-4CF2-92A8-395D4062B082}" dt="2026-09-18T16:15:36.068" v="117" actId="14100"/>
          <ac:picMkLst>
            <pc:docMk/>
            <pc:sldMk cId="0" sldId="256"/>
            <ac:picMk id="5" creationId="{00000000-0000-0000-0000-000000000000}"/>
          </ac:picMkLst>
        </pc:picChg>
      </pc:sldChg>
      <pc:sldChg chg="addSp delSp modSp mod">
        <pc:chgData name="Yuva Mahesh" userId="55ce729dfb06cce1" providerId="LiveId" clId="{186AA61E-F4F5-4CF2-92A8-395D4062B082}" dt="2026-09-18T16:03:06.778" v="54" actId="255"/>
        <pc:sldMkLst>
          <pc:docMk/>
          <pc:sldMk cId="0" sldId="257"/>
        </pc:sldMkLst>
        <pc:spChg chg="mod">
          <ac:chgData name="Yuva Mahesh" userId="55ce729dfb06cce1" providerId="LiveId" clId="{186AA61E-F4F5-4CF2-92A8-395D4062B082}" dt="2026-09-18T16:02:44.116" v="51" actId="113"/>
          <ac:spMkLst>
            <pc:docMk/>
            <pc:sldMk cId="0" sldId="257"/>
            <ac:spMk id="8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03:06.778" v="54" actId="255"/>
          <ac:spMkLst>
            <pc:docMk/>
            <pc:sldMk cId="0" sldId="257"/>
            <ac:spMk id="9" creationId="{00000000-0000-0000-0000-000000000000}"/>
          </ac:spMkLst>
        </pc:spChg>
        <pc:spChg chg="add del mod">
          <ac:chgData name="Yuva Mahesh" userId="55ce729dfb06cce1" providerId="LiveId" clId="{186AA61E-F4F5-4CF2-92A8-395D4062B082}" dt="2026-09-18T16:02:28.393" v="46"/>
          <ac:spMkLst>
            <pc:docMk/>
            <pc:sldMk cId="0" sldId="257"/>
            <ac:spMk id="10" creationId="{D1DA1899-04A3-A4FF-E67A-CBE16C57E4B5}"/>
          </ac:spMkLst>
        </pc:spChg>
      </pc:sldChg>
      <pc:sldChg chg="modSp mod">
        <pc:chgData name="Yuva Mahesh" userId="55ce729dfb06cce1" providerId="LiveId" clId="{186AA61E-F4F5-4CF2-92A8-395D4062B082}" dt="2026-09-18T16:13:49.316" v="112" actId="20577"/>
        <pc:sldMkLst>
          <pc:docMk/>
          <pc:sldMk cId="0" sldId="258"/>
        </pc:sldMkLst>
        <pc:spChg chg="mod">
          <ac:chgData name="Yuva Mahesh" userId="55ce729dfb06cce1" providerId="LiveId" clId="{186AA61E-F4F5-4CF2-92A8-395D4062B082}" dt="2026-09-18T16:13:49.316" v="112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03:19.841" v="56" actId="255"/>
          <ac:spMkLst>
            <pc:docMk/>
            <pc:sldMk cId="0" sldId="258"/>
            <ac:spMk id="8" creationId="{00000000-0000-0000-0000-000000000000}"/>
          </ac:spMkLst>
        </pc:spChg>
      </pc:sldChg>
      <pc:sldChg chg="modSp mod">
        <pc:chgData name="Yuva Mahesh" userId="55ce729dfb06cce1" providerId="LiveId" clId="{186AA61E-F4F5-4CF2-92A8-395D4062B082}" dt="2026-09-18T16:03:37.544" v="58" actId="255"/>
        <pc:sldMkLst>
          <pc:docMk/>
          <pc:sldMk cId="0" sldId="259"/>
        </pc:sldMkLst>
        <pc:spChg chg="mod">
          <ac:chgData name="Yuva Mahesh" userId="55ce729dfb06cce1" providerId="LiveId" clId="{186AA61E-F4F5-4CF2-92A8-395D4062B082}" dt="2026-09-18T16:03:37.544" v="58" actId="255"/>
          <ac:spMkLst>
            <pc:docMk/>
            <pc:sldMk cId="0" sldId="259"/>
            <ac:spMk id="8" creationId="{00000000-0000-0000-0000-000000000000}"/>
          </ac:spMkLst>
        </pc:spChg>
      </pc:sldChg>
      <pc:sldChg chg="delSp modSp mod">
        <pc:chgData name="Yuva Mahesh" userId="55ce729dfb06cce1" providerId="LiveId" clId="{186AA61E-F4F5-4CF2-92A8-395D4062B082}" dt="2026-09-18T16:05:26.902" v="71" actId="2711"/>
        <pc:sldMkLst>
          <pc:docMk/>
          <pc:sldMk cId="0" sldId="260"/>
        </pc:sldMkLst>
        <pc:spChg chg="mod">
          <ac:chgData name="Yuva Mahesh" userId="55ce729dfb06cce1" providerId="LiveId" clId="{186AA61E-F4F5-4CF2-92A8-395D4062B082}" dt="2026-09-18T16:04:21.205" v="63" actId="1076"/>
          <ac:spMkLst>
            <pc:docMk/>
            <pc:sldMk cId="0" sldId="260"/>
            <ac:spMk id="6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04:14.827" v="62" actId="1076"/>
          <ac:spMkLst>
            <pc:docMk/>
            <pc:sldMk cId="0" sldId="260"/>
            <ac:spMk id="7" creationId="{00000000-0000-0000-0000-000000000000}"/>
          </ac:spMkLst>
        </pc:spChg>
        <pc:spChg chg="del mod">
          <ac:chgData name="Yuva Mahesh" userId="55ce729dfb06cce1" providerId="LiveId" clId="{186AA61E-F4F5-4CF2-92A8-395D4062B082}" dt="2026-09-18T16:04:03.422" v="60" actId="478"/>
          <ac:spMkLst>
            <pc:docMk/>
            <pc:sldMk cId="0" sldId="260"/>
            <ac:spMk id="9" creationId="{00000000-0000-0000-0000-000000000000}"/>
          </ac:spMkLst>
        </pc:spChg>
        <pc:graphicFrameChg chg="mod modGraphic">
          <ac:chgData name="Yuva Mahesh" userId="55ce729dfb06cce1" providerId="LiveId" clId="{186AA61E-F4F5-4CF2-92A8-395D4062B082}" dt="2026-09-18T16:05:26.902" v="71" actId="2711"/>
          <ac:graphicFrameMkLst>
            <pc:docMk/>
            <pc:sldMk cId="0" sldId="260"/>
            <ac:graphicFrameMk id="8" creationId="{00000000-0000-0000-0000-000000000000}"/>
          </ac:graphicFrameMkLst>
        </pc:graphicFrameChg>
      </pc:sldChg>
      <pc:sldChg chg="modSp mod">
        <pc:chgData name="Yuva Mahesh" userId="55ce729dfb06cce1" providerId="LiveId" clId="{186AA61E-F4F5-4CF2-92A8-395D4062B082}" dt="2026-09-18T16:06:16.623" v="78" actId="113"/>
        <pc:sldMkLst>
          <pc:docMk/>
          <pc:sldMk cId="0" sldId="261"/>
        </pc:sldMkLst>
        <pc:spChg chg="mod">
          <ac:chgData name="Yuva Mahesh" userId="55ce729dfb06cce1" providerId="LiveId" clId="{186AA61E-F4F5-4CF2-92A8-395D4062B082}" dt="2026-09-18T16:06:06.744" v="76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06:16.623" v="78" actId="113"/>
          <ac:spMkLst>
            <pc:docMk/>
            <pc:sldMk cId="0" sldId="261"/>
            <ac:spMk id="9" creationId="{00000000-0000-0000-0000-000000000000}"/>
          </ac:spMkLst>
        </pc:spChg>
      </pc:sldChg>
      <pc:sldChg chg="modSp mod">
        <pc:chgData name="Yuva Mahesh" userId="55ce729dfb06cce1" providerId="LiveId" clId="{186AA61E-F4F5-4CF2-92A8-395D4062B082}" dt="2026-09-18T16:06:29.700" v="80" actId="1076"/>
        <pc:sldMkLst>
          <pc:docMk/>
          <pc:sldMk cId="0" sldId="262"/>
        </pc:sldMkLst>
        <pc:picChg chg="mod">
          <ac:chgData name="Yuva Mahesh" userId="55ce729dfb06cce1" providerId="LiveId" clId="{186AA61E-F4F5-4CF2-92A8-395D4062B082}" dt="2026-09-18T16:06:29.700" v="80" actId="1076"/>
          <ac:picMkLst>
            <pc:docMk/>
            <pc:sldMk cId="0" sldId="262"/>
            <ac:picMk id="5" creationId="{00000000-0000-0000-0000-000000000000}"/>
          </ac:picMkLst>
        </pc:picChg>
      </pc:sldChg>
      <pc:sldChg chg="modSp mod">
        <pc:chgData name="Yuva Mahesh" userId="55ce729dfb06cce1" providerId="LiveId" clId="{186AA61E-F4F5-4CF2-92A8-395D4062B082}" dt="2026-09-18T16:06:37.820" v="81" actId="113"/>
        <pc:sldMkLst>
          <pc:docMk/>
          <pc:sldMk cId="0" sldId="263"/>
        </pc:sldMkLst>
        <pc:spChg chg="mod">
          <ac:chgData name="Yuva Mahesh" userId="55ce729dfb06cce1" providerId="LiveId" clId="{186AA61E-F4F5-4CF2-92A8-395D4062B082}" dt="2026-09-18T16:06:37.820" v="81" actId="113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Yuva Mahesh" userId="55ce729dfb06cce1" providerId="LiveId" clId="{186AA61E-F4F5-4CF2-92A8-395D4062B082}" dt="2026-09-18T16:12:57.562" v="110" actId="113"/>
        <pc:sldMkLst>
          <pc:docMk/>
          <pc:sldMk cId="0" sldId="264"/>
        </pc:sldMkLst>
        <pc:spChg chg="mod">
          <ac:chgData name="Yuva Mahesh" userId="55ce729dfb06cce1" providerId="LiveId" clId="{186AA61E-F4F5-4CF2-92A8-395D4062B082}" dt="2026-09-18T16:12:57.562" v="110" actId="113"/>
          <ac:spMkLst>
            <pc:docMk/>
            <pc:sldMk cId="0" sldId="264"/>
            <ac:spMk id="8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12:05.118" v="103" actId="113"/>
          <ac:spMkLst>
            <pc:docMk/>
            <pc:sldMk cId="0" sldId="264"/>
            <ac:spMk id="9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12:48.099" v="107" actId="255"/>
          <ac:spMkLst>
            <pc:docMk/>
            <pc:sldMk cId="0" sldId="264"/>
            <ac:spMk id="10" creationId="{00000000-0000-0000-0000-000000000000}"/>
          </ac:spMkLst>
        </pc:spChg>
        <pc:spChg chg="mod">
          <ac:chgData name="Yuva Mahesh" userId="55ce729dfb06cce1" providerId="LiveId" clId="{186AA61E-F4F5-4CF2-92A8-395D4062B082}" dt="2026-09-18T16:12:12.671" v="105" actId="255"/>
          <ac:spMkLst>
            <pc:docMk/>
            <pc:sldMk cId="0" sldId="264"/>
            <ac:spMk id="11" creationId="{00000000-0000-0000-0000-000000000000}"/>
          </ac:spMkLst>
        </pc:spChg>
      </pc:sldChg>
      <pc:sldChg chg="modSp mod">
        <pc:chgData name="Yuva Mahesh" userId="55ce729dfb06cce1" providerId="LiveId" clId="{186AA61E-F4F5-4CF2-92A8-395D4062B082}" dt="2026-09-18T16:11:56.455" v="101" actId="255"/>
        <pc:sldMkLst>
          <pc:docMk/>
          <pc:sldMk cId="0" sldId="265"/>
        </pc:sldMkLst>
        <pc:spChg chg="mod">
          <ac:chgData name="Yuva Mahesh" userId="55ce729dfb06cce1" providerId="LiveId" clId="{186AA61E-F4F5-4CF2-92A8-395D4062B082}" dt="2026-09-18T16:11:56.455" v="101" actId="255"/>
          <ac:spMkLst>
            <pc:docMk/>
            <pc:sldMk cId="0" sldId="265"/>
            <ac:spMk id="8" creationId="{00000000-0000-0000-0000-000000000000}"/>
          </ac:spMkLst>
        </pc:spChg>
      </pc:sldChg>
      <pc:sldChg chg="modSp mod">
        <pc:chgData name="Yuva Mahesh" userId="55ce729dfb06cce1" providerId="LiveId" clId="{186AA61E-F4F5-4CF2-92A8-395D4062B082}" dt="2026-09-18T16:11:47.962" v="100" actId="2711"/>
        <pc:sldMkLst>
          <pc:docMk/>
          <pc:sldMk cId="0" sldId="266"/>
        </pc:sldMkLst>
        <pc:spChg chg="mod">
          <ac:chgData name="Yuva Mahesh" userId="55ce729dfb06cce1" providerId="LiveId" clId="{186AA61E-F4F5-4CF2-92A8-395D4062B082}" dt="2026-09-18T16:11:47.962" v="100" actId="2711"/>
          <ac:spMkLst>
            <pc:docMk/>
            <pc:sldMk cId="0" sldId="266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7078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32688"/>
            <a:ext cx="2876425" cy="176479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960120"/>
            <a:ext cx="10360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Sequence Analysis Tool Using</a:t>
            </a:r>
            <a:endParaRPr lang="en-US" sz="3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String-Matching Algorithms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22402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DSA-III Mini Project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 submitted for the partial fulfilment of grade for the course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 and Algorithms – 3 (DSA-III)  |  A.Y. 2026-2027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3566160" y="3337560"/>
            <a:ext cx="5029200" cy="0"/>
          </a:xfrm>
          <a:prstGeom prst="line">
            <a:avLst/>
          </a:prstGeom>
          <a:noFill/>
          <a:ln w="12700">
            <a:solidFill>
              <a:srgbClr val="D9B7B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4747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378295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Yuva Mahesh (2520030336)   •   K. Shloka (2520030334)   •   Sreshta (2520030217)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416052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Number: 6   |   Section: 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4668012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4992624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D SWATHI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321808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Professor, CSE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630936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KLH University, Bachupally Campus — Hyderabad-500090, Telangana, India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03320" y="1337310"/>
            <a:ext cx="38235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1.   Abstract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2.   Introduction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3.   Literature Survey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2000"/>
              </a:spcAft>
              <a:buAutoNum type="arabicPeriod" startAt="4"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Problem Statement and               Objectives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5.   Flow Chart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984084" y="1188720"/>
            <a:ext cx="38235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6.  Results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7.  Hardware and Software Requirements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8.  Conclusion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9.  Future Scope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r>
              <a:rPr lang="en-IN" dirty="0"/>
              <a:t>a</a:t>
            </a:r>
          </a:p>
        </p:txBody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03320" y="1051560"/>
            <a:ext cx="8104327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Java-based web application (DSA-III mini-project) for DNA motif searching and performance analysis.</a:t>
            </a:r>
            <a:endParaRPr lang="en-US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four string-matching algorithms: KMP, Z-Algorithm, Rabin-Karp, and Aho-Corasick.</a:t>
            </a:r>
            <a:endParaRPr lang="en-US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KMP, Z-Algorithm and Rabin-Karp search one motif at a time; Aho-Corasick searches many motifs simultaneously.</a:t>
            </a:r>
            <a:endParaRPr lang="en-US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DNA sequences built from four nucleotide bases: A, T, G, C.</a:t>
            </a:r>
            <a:endParaRPr lang="en-US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paste a sequence or upload a .txt/.fasta file, then search for one or more motifs.</a:t>
            </a:r>
            <a:endParaRPr lang="en-US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match positions, highlights matches, times each algorithm, and reports the fastest one.</a:t>
            </a:r>
            <a:endParaRPr lang="en-US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memory - no database required.</a:t>
            </a:r>
            <a:endParaRPr lang="en-U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03320" y="1051560"/>
            <a:ext cx="8104327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is a sequence built from just four letters: A (Adenine), T (Thymine), G (Guanine), C (Cytosine).</a:t>
            </a:r>
            <a:endParaRPr lang="en-US" sz="2000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recurring short sequence within DNA - like a start codon or a promoter region - is called a motif.</a:t>
            </a:r>
            <a:endParaRPr lang="en-US" sz="2000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every occurrence of a motif inside a long genome is a classic string-matching problem.</a:t>
            </a:r>
            <a:endParaRPr lang="en-US" sz="2000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character-by-character search takes O(n·m) time - too slow for large genome files.</a:t>
            </a:r>
            <a:endParaRPr lang="en-US" sz="2000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algorithms (KMP, Z-Algorithm, Rabin-Karp, Aho-Corasick) solve this in linear or near-linear time.</a:t>
            </a:r>
            <a:endParaRPr lang="en-US" sz="2000" b="1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practical tool that applies all four algorithms to real DNA-style data and compares them head-to-head.</a:t>
            </a:r>
            <a:endParaRPr lang="en-US" sz="20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560324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625166" y="560324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618033"/>
              </p:ext>
            </p:extLst>
          </p:nvPr>
        </p:nvGraphicFramePr>
        <p:xfrm>
          <a:off x="3703320" y="1371600"/>
          <a:ext cx="8119872" cy="411480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2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Algorithm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Origin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Core Idea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A3A3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Knuth-Morris-Pratt (KMP)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Knuth, Morris &amp; Pratt (1977)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Failure function (LPS array) avoids re-checking matched characters.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A3A3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Z-Algorithm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Gusfield, Algorithms on Strings, Trees and Sequences (1997)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Z-array gives the longest match with the prefix at every position.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A3A3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Rabin-Karp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Rabin &amp; Karp (1987)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Polynomial rolling hash compares windows in O(1) before a direct check.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A3A3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Aho-Corasick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Aho &amp; Corasick (1975)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3A3A3A"/>
                          </a:solidFill>
                          <a:latin typeface="+mn-lt"/>
                        </a:rPr>
                        <a:t>Trie of all patterns plus KMP-style failure links; finds every pattern in one pass.</a:t>
                      </a:r>
                      <a:endParaRPr lang="en-US" sz="1200" b="0" dirty="0">
                        <a:latin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88920" y="228600"/>
            <a:ext cx="90370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2788920" y="228600"/>
            <a:ext cx="9037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Objectives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461043" y="1074420"/>
            <a:ext cx="810432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Naive scanning of genome sequences for known motifs takes O(n·m) time per search - computationally expensive at scale. This project applies linear-time string-matching algorithms to solve pattern-search, multi-pattern-search, and algorithm-selection problems on DNA data.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3461043" y="2205990"/>
            <a:ext cx="8104327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 Accurately locate motif patterns inside DNA sequences.</a:t>
            </a:r>
            <a:endParaRPr lang="en-US" sz="1450" b="1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simultaneous search of multiple motifs via Aho-Corasick.</a:t>
            </a:r>
            <a:endParaRPr lang="en-US" sz="1450" b="1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and compare real execution time against documented complexity.</a:t>
            </a:r>
            <a:endParaRPr lang="en-US" sz="1450" b="1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 strictly to the DNA alphabet {A, T, G, C}.</a:t>
            </a:r>
            <a:endParaRPr lang="en-US" sz="1450" b="1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entirely offline, with no database and no external services.</a:t>
            </a:r>
            <a:endParaRPr lang="en-US" sz="145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703320" y="1051560"/>
            <a:ext cx="8104327" cy="566928"/>
          </a:xfrm>
          <a:prstGeom prst="roundRect">
            <a:avLst>
              <a:gd name="adj" fmla="val 9677"/>
            </a:avLst>
          </a:prstGeom>
          <a:solidFill>
            <a:srgbClr val="C000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3703320" y="1051560"/>
            <a:ext cx="81043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DNA Sequence (paste / upload .txt or .fasta) + Motifs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18324" y="16459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00000"/>
                </a:solidFill>
              </a:rPr>
              <a:t>▼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703320" y="1874520"/>
            <a:ext cx="8104327" cy="566928"/>
          </a:xfrm>
          <a:prstGeom prst="roundRect">
            <a:avLst>
              <a:gd name="adj" fmla="val 9677"/>
            </a:avLst>
          </a:prstGeom>
          <a:solidFill>
            <a:srgbClr val="C000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703320" y="1874520"/>
            <a:ext cx="81043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strip FASTA headers, check alphabet is only A / T / G / C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618324" y="246888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00000"/>
                </a:solidFill>
              </a:rPr>
              <a:t>▼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703320" y="2697480"/>
            <a:ext cx="3937864" cy="704088"/>
          </a:xfrm>
          <a:prstGeom prst="roundRect">
            <a:avLst>
              <a:gd name="adj" fmla="val 7792"/>
            </a:avLst>
          </a:prstGeom>
          <a:solidFill>
            <a:srgbClr val="AE2B3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703320" y="2697480"/>
            <a:ext cx="39378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/ Z-Algorithm / Rabin-Karp</a:t>
            </a:r>
            <a:endParaRPr lang="en-US" sz="12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motif at a time)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69784" y="2697480"/>
            <a:ext cx="3937864" cy="704088"/>
          </a:xfrm>
          <a:prstGeom prst="roundRect">
            <a:avLst>
              <a:gd name="adj" fmla="val 7792"/>
            </a:avLst>
          </a:prstGeom>
          <a:solidFill>
            <a:srgbClr val="AE2B3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869784" y="2697480"/>
            <a:ext cx="39378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Aho-Corasick</a:t>
            </a:r>
            <a:endParaRPr lang="en-US" sz="12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 motifs at once)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618324" y="34290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00000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703320" y="3657600"/>
            <a:ext cx="8104327" cy="566928"/>
          </a:xfrm>
          <a:prstGeom prst="roundRect">
            <a:avLst>
              <a:gd name="adj" fmla="val 9677"/>
            </a:avLst>
          </a:prstGeom>
          <a:solidFill>
            <a:srgbClr val="C000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703320" y="3657600"/>
            <a:ext cx="81043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matches + measure execution time per algorithm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761832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00000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3703320" y="4480560"/>
            <a:ext cx="8104327" cy="566928"/>
          </a:xfrm>
          <a:prstGeom prst="roundRect">
            <a:avLst>
              <a:gd name="adj" fmla="val 9677"/>
            </a:avLst>
          </a:prstGeom>
          <a:solidFill>
            <a:srgbClr val="C0000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703320" y="4480560"/>
            <a:ext cx="81043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highlighted sequence, comparison table, fastest algorithm, downloadable results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03320" y="1005840"/>
            <a:ext cx="8104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run: sequence length 118 bases, motifs = {ATG, TAGC, GTAC, ATGC}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463040"/>
          <a:ext cx="8119872" cy="2057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93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Algorithm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Occurrences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Time (ms)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Time Complexity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KMP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2.5341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O(n + m)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Z-Algorithm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1.2021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O(n + m)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00000"/>
                          </a:solidFill>
                        </a:rPr>
                        <a:t>Rabin-Karp  ★ Fastest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0000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0000"/>
                          </a:solidFill>
                        </a:rPr>
                        <a:t>0.6217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0000"/>
                          </a:solidFill>
                        </a:rPr>
                        <a:t>O(n + m) avg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Aho-Corasick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2.5820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</a:rPr>
                        <a:t>O(n + m + z)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3703320" y="3566160"/>
            <a:ext cx="8104327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algorithms agree exactly on the number and position of every match, confirming correctness.</a:t>
            </a:r>
            <a:endParaRPr lang="en-US" sz="1450" b="1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Rabin-Karp was fastest in this run; results vary by input size and motif count.</a:t>
            </a:r>
            <a:endParaRPr lang="en-US" sz="1450" b="1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highlights every match directly within the sequence and lets the user download the full report.</a:t>
            </a:r>
            <a:endParaRPr lang="en-US" sz="1450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063240" y="228600"/>
            <a:ext cx="876269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063240" y="228600"/>
            <a:ext cx="8762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and Software requirements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89289" y="1443892"/>
            <a:ext cx="386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Hardware</a:t>
            </a:r>
            <a:r>
              <a:rPr lang="en-US" sz="15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05823" y="2027252"/>
            <a:ext cx="38692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standard desktop or laptop (Windows / macOS / Linux)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4 GB RAM recommended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or special hardware required</a:t>
            </a:r>
            <a:endParaRPr lang="en-US" dirty="0"/>
          </a:p>
        </p:txBody>
      </p:sp>
      <p:sp>
        <p:nvSpPr>
          <p:cNvPr id="10" name="Text 6"/>
          <p:cNvSpPr txBox="1"/>
          <p:nvPr/>
        </p:nvSpPr>
        <p:spPr>
          <a:xfrm>
            <a:off x="7956651" y="1426306"/>
            <a:ext cx="3869284" cy="3833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Software</a:t>
            </a:r>
            <a:r>
              <a:rPr lang="en-US" sz="15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875840" y="1951892"/>
            <a:ext cx="38692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Development Kit (JDK) 17 or later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web browser (Chrome, Edge, Firefox)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Maven, no Spring Boot, no database, no internet required to run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03320" y="1051560"/>
            <a:ext cx="8104327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implemented and compared four string-matching algorithms on real DNA-style data.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KMP, Z-Algorithm and Rabin-Karp reliably solve single-motif search in linear (or near-linear) time.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Aho-Corasick efficiently extends this to searching many motifs in a single pass over the sequence.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algorithms produced identical, verified match results across every test case.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runs entirely offline with zero external dependencies, making it easy to demonstrate and evaluate.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03320" y="228600"/>
            <a:ext cx="8122615" cy="566928"/>
          </a:xfrm>
          <a:prstGeom prst="roundRect">
            <a:avLst>
              <a:gd name="adj" fmla="val 16129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703320" y="228600"/>
            <a:ext cx="8122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3703320" y="1051560"/>
            <a:ext cx="8104327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Add fuzzy motif matching using Edit Distance / Smith-Waterman local alignment.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Add suffix array + LCP-based document similarity across multiple genome files.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Add reverse-complement motif search, which is biologically meaningful for DNA.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Persist search history to a lightweight embedded database for cross-session review.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Parallelize search across chromosome-sized chunks for very large genome files.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4" name="Image 0" descr="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09728"/>
            <a:ext cx="2103120" cy="850392"/>
          </a:xfrm>
          <a:prstGeom prst="rect">
            <a:avLst/>
          </a:prstGeom>
        </p:spPr>
      </p:pic>
      <p:pic>
        <p:nvPicPr>
          <p:cNvPr id="5" name="Image 1" descr="assets/swirl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960120"/>
            <a:ext cx="3017520" cy="18105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480560" y="2834640"/>
            <a:ext cx="3200400" cy="777240"/>
          </a:xfrm>
          <a:prstGeom prst="roundRect">
            <a:avLst>
              <a:gd name="adj" fmla="val 11765"/>
            </a:avLst>
          </a:prstGeom>
          <a:solidFill>
            <a:srgbClr val="C00000"/>
          </a:solidFill>
          <a:ln w="19050">
            <a:solidFill>
              <a:srgbClr val="AE2B32"/>
            </a:solidFill>
            <a:prstDash val="solid"/>
          </a:ln>
          <a:effectLst>
            <a:outerShdw blurRad="508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4480560" y="28346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379476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Sequence Analysis Tool Using Advanced String-Matching Algorithms  |  Team 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992</Words>
  <Application>Microsoft Office PowerPoint</Application>
  <PresentationFormat>Widescreen</PresentationFormat>
  <Paragraphs>134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Yuva Mahesh</cp:lastModifiedBy>
  <cp:revision>1</cp:revision>
  <dcterms:created xsi:type="dcterms:W3CDTF">2026-08-29T03:19:37Z</dcterms:created>
  <dcterms:modified xsi:type="dcterms:W3CDTF">2026-09-18T16:16:13Z</dcterms:modified>
</cp:coreProperties>
</file>